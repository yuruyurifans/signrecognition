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10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D5890EE-7441-4F8E-B975-9547D64A090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246A2C0-DD8C-478F-B995-955E0E4E499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32F0B88-5672-49C8-A7E3-44E73ABEAD3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65E7470-0DC0-4389-99BC-EE79249C66C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EEEC46E-40A0-4B98-9DAF-0B7EAE680C1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505383D-F015-4655-9A5F-A1CAEA69F5E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FAB6DE9-8680-45A7-9313-6AA0E87378E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AC4EF42-B20B-4F7F-A8AC-93829920286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26DF761-CA97-4820-BB52-6074258C1F8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69B267A-9760-4D85-A0DD-B811DEC2899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0F183BE-6FCA-41E6-BFA9-E71B57FA9DB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Box 1"/>
          <p:cNvSpPr/>
          <p:nvPr/>
        </p:nvSpPr>
        <p:spPr>
          <a:xfrm>
            <a:off x="914400" y="1828800"/>
            <a:ext cx="73148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4400" strike="noStrike" u="none">
                <a:solidFill>
                  <a:srgbClr val="003366"/>
                </a:solidFill>
                <a:effectLst/>
                <a:uFillTx/>
                <a:latin typeface="Calibri"/>
              </a:rPr>
              <a:t>Lightweight CNNs for Traffic Sign Recognition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Box 2"/>
          <p:cNvSpPr/>
          <p:nvPr/>
        </p:nvSpPr>
        <p:spPr>
          <a:xfrm>
            <a:off x="1561320" y="3200400"/>
            <a:ext cx="6021720" cy="94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800" strike="noStrike" u="none">
                <a:solidFill>
                  <a:srgbClr val="3399ff"/>
                </a:solidFill>
                <a:effectLst/>
                <a:uFillTx/>
                <a:latin typeface="Calibri"/>
              </a:rPr>
              <a:t>A Comparative Study of LeNet-5 vs 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2800" strike="noStrike" u="none">
                <a:solidFill>
                  <a:srgbClr val="3399ff"/>
                </a:solidFill>
                <a:effectLst/>
                <a:uFillTx/>
                <a:latin typeface="Calibri"/>
              </a:rPr>
              <a:t>3 Modern Architectures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3"/>
          <p:cNvSpPr/>
          <p:nvPr/>
        </p:nvSpPr>
        <p:spPr>
          <a:xfrm>
            <a:off x="2214000" y="4572000"/>
            <a:ext cx="4715280" cy="10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COMP3419 - Graphics and Multimedia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Assignment 2 Option 3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November 14</a:t>
            </a:r>
            <a:r>
              <a:rPr b="0" lang="en-US" sz="2000" strike="noStrike" u="none" baseline="33000">
                <a:solidFill>
                  <a:schemeClr val="dk1"/>
                </a:solidFill>
                <a:effectLst/>
                <a:uFillTx/>
                <a:latin typeface="Calibri"/>
              </a:rPr>
              <a:t>th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, 2025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Box 1"/>
          <p:cNvSpPr/>
          <p:nvPr/>
        </p:nvSpPr>
        <p:spPr>
          <a:xfrm>
            <a:off x="457200" y="457200"/>
            <a:ext cx="8229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trike="noStrike" u="none">
                <a:solidFill>
                  <a:srgbClr val="003366"/>
                </a:solidFill>
                <a:effectLst/>
                <a:uFillTx/>
                <a:latin typeface="Calibri"/>
              </a:rPr>
              <a:t>Problem &amp; Motivation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Rectangle 2"/>
          <p:cNvSpPr/>
          <p:nvPr/>
        </p:nvSpPr>
        <p:spPr>
          <a:xfrm>
            <a:off x="457200" y="1280160"/>
            <a:ext cx="8229240" cy="360"/>
          </a:xfrm>
          <a:prstGeom prst="rect">
            <a:avLst/>
          </a:prstGeom>
          <a:gradFill rotWithShape="0">
            <a:gsLst>
              <a:gs pos="0">
                <a:srgbClr val="3e7fcc"/>
              </a:gs>
              <a:gs pos="100000">
                <a:srgbClr val="a4c1ff"/>
              </a:gs>
            </a:gsLst>
            <a:lin ang="16200000"/>
          </a:gradFill>
          <a:ln w="25400">
            <a:solidFill>
              <a:srgbClr val="00336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44280" bIns="-44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" name="TextBox 3"/>
          <p:cNvSpPr/>
          <p:nvPr/>
        </p:nvSpPr>
        <p:spPr>
          <a:xfrm>
            <a:off x="457200" y="1645920"/>
            <a:ext cx="8229240" cy="29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Challenge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High computational requirements limit embedded traffic sign recognition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Gap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Speed is under-researched despite being crucial for deployment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400" strike="noStrike" u="none">
                <a:solidFill>
                  <a:srgbClr val="3399ff"/>
                </a:solidFill>
                <a:effectLst/>
                <a:uFillTx/>
                <a:latin typeface="Calibri"/>
              </a:rPr>
              <a:t>Research Question: Can the classic LeNet-5 compete with modern lightweight models?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Focus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GTSRB benchmark with 4 CNN architectures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Box 1"/>
          <p:cNvSpPr/>
          <p:nvPr/>
        </p:nvSpPr>
        <p:spPr>
          <a:xfrm>
            <a:off x="457200" y="457200"/>
            <a:ext cx="8229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trike="noStrike" u="none">
                <a:solidFill>
                  <a:srgbClr val="003366"/>
                </a:solidFill>
                <a:effectLst/>
                <a:uFillTx/>
                <a:latin typeface="Calibri"/>
              </a:rPr>
              <a:t>Research Approach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Rectangle 2"/>
          <p:cNvSpPr/>
          <p:nvPr/>
        </p:nvSpPr>
        <p:spPr>
          <a:xfrm>
            <a:off x="457200" y="1280160"/>
            <a:ext cx="8229240" cy="360"/>
          </a:xfrm>
          <a:prstGeom prst="rect">
            <a:avLst/>
          </a:prstGeom>
          <a:gradFill rotWithShape="0">
            <a:gsLst>
              <a:gs pos="0">
                <a:srgbClr val="3e7fcc"/>
              </a:gs>
              <a:gs pos="100000">
                <a:srgbClr val="a4c1ff"/>
              </a:gs>
            </a:gsLst>
            <a:lin ang="16200000"/>
          </a:gradFill>
          <a:ln w="25400">
            <a:solidFill>
              <a:srgbClr val="00336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44280" bIns="-44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" name="TextBox 3"/>
          <p:cNvSpPr/>
          <p:nvPr/>
        </p:nvSpPr>
        <p:spPr>
          <a:xfrm>
            <a:off x="457200" y="1645920"/>
            <a:ext cx="3160800" cy="179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trike="noStrike" u="none">
                <a:solidFill>
                  <a:srgbClr val="003366"/>
                </a:solidFill>
                <a:effectLst/>
                <a:uFillTx/>
                <a:latin typeface="Calibri"/>
              </a:rPr>
              <a:t>Model Comparison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LeNet-5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MiniVGG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MobileNetV2 (α=0.25)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MobileNetV4-Small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4"/>
          <p:cNvSpPr/>
          <p:nvPr/>
        </p:nvSpPr>
        <p:spPr>
          <a:xfrm>
            <a:off x="3291840" y="1645920"/>
            <a:ext cx="3337200" cy="179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trike="noStrike" u="none">
                <a:solidFill>
                  <a:srgbClr val="003366"/>
                </a:solidFill>
                <a:effectLst/>
                <a:uFillTx/>
                <a:latin typeface="Calibri"/>
              </a:rPr>
              <a:t>Fine-tuning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Label smoothing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Adam optimizer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Batch size optimization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Learning rate tuning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5"/>
          <p:cNvSpPr/>
          <p:nvPr/>
        </p:nvSpPr>
        <p:spPr>
          <a:xfrm>
            <a:off x="6126480" y="1645920"/>
            <a:ext cx="2976840" cy="179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trike="noStrike" u="none">
                <a:solidFill>
                  <a:srgbClr val="003366"/>
                </a:solidFill>
                <a:effectLst/>
                <a:uFillTx/>
                <a:latin typeface="Calibri"/>
              </a:rPr>
              <a:t>Ablation Studies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Data augmentation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Kernel sizes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Network depth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Activation functions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Box 1"/>
          <p:cNvSpPr/>
          <p:nvPr/>
        </p:nvSpPr>
        <p:spPr>
          <a:xfrm>
            <a:off x="457200" y="457200"/>
            <a:ext cx="8229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trike="noStrike" u="none">
                <a:solidFill>
                  <a:srgbClr val="003366"/>
                </a:solidFill>
                <a:effectLst/>
                <a:uFillTx/>
                <a:latin typeface="Calibri"/>
              </a:rPr>
              <a:t>Dataset &amp; Evaluation Metrics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Rectangle 2"/>
          <p:cNvSpPr/>
          <p:nvPr/>
        </p:nvSpPr>
        <p:spPr>
          <a:xfrm>
            <a:off x="457200" y="1280160"/>
            <a:ext cx="8229240" cy="360"/>
          </a:xfrm>
          <a:prstGeom prst="rect">
            <a:avLst/>
          </a:prstGeom>
          <a:gradFill rotWithShape="0">
            <a:gsLst>
              <a:gs pos="0">
                <a:srgbClr val="3e7fcc"/>
              </a:gs>
              <a:gs pos="100000">
                <a:srgbClr val="a4c1ff"/>
              </a:gs>
            </a:gsLst>
            <a:lin ang="16200000"/>
          </a:gradFill>
          <a:ln w="25400">
            <a:solidFill>
              <a:srgbClr val="00336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44280" bIns="-44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" name="TextBox 3"/>
          <p:cNvSpPr/>
          <p:nvPr/>
        </p:nvSpPr>
        <p:spPr>
          <a:xfrm>
            <a:off x="-228600" y="1645920"/>
            <a:ext cx="4624560" cy="195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trike="noStrike" u="none">
                <a:solidFill>
                  <a:srgbClr val="003366"/>
                </a:solidFill>
                <a:effectLst/>
                <a:uFillTx/>
                <a:latin typeface="Calibri"/>
              </a:rPr>
              <a:t>      GTSRB Dataset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50,000+ daytime images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43 German traffic sign classes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Varying size, lighting, perspective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Standard benchmark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4"/>
          <p:cNvSpPr/>
          <p:nvPr/>
        </p:nvSpPr>
        <p:spPr>
          <a:xfrm>
            <a:off x="3886200" y="1645920"/>
            <a:ext cx="5265720" cy="210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trike="noStrike" u="none">
                <a:solidFill>
                  <a:srgbClr val="003366"/>
                </a:solidFill>
                <a:effectLst/>
                <a:uFillTx/>
                <a:latin typeface="Calibri"/>
              </a:rPr>
              <a:t>      Evaluation Metrics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Accuracy: Primary measure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Weighted F1/Prec/Rec: Handle imbalance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Log Loss: Penalize overconfidence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FLOPs: Theoretical complexity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Throughput: Real-world speed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Box 1"/>
          <p:cNvSpPr/>
          <p:nvPr/>
        </p:nvSpPr>
        <p:spPr>
          <a:xfrm>
            <a:off x="457200" y="457200"/>
            <a:ext cx="8229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trike="noStrike" u="none">
                <a:solidFill>
                  <a:srgbClr val="003366"/>
                </a:solidFill>
                <a:effectLst/>
                <a:uFillTx/>
                <a:latin typeface="Calibri"/>
              </a:rPr>
              <a:t>Main Results - Performance Comparison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Rectangle 2"/>
          <p:cNvSpPr/>
          <p:nvPr/>
        </p:nvSpPr>
        <p:spPr>
          <a:xfrm>
            <a:off x="457200" y="1280160"/>
            <a:ext cx="8229240" cy="360"/>
          </a:xfrm>
          <a:prstGeom prst="rect">
            <a:avLst/>
          </a:prstGeom>
          <a:gradFill rotWithShape="0">
            <a:gsLst>
              <a:gs pos="0">
                <a:srgbClr val="3e7fcc"/>
              </a:gs>
              <a:gs pos="100000">
                <a:srgbClr val="a4c1ff"/>
              </a:gs>
            </a:gsLst>
            <a:lin ang="16200000"/>
          </a:gradFill>
          <a:ln w="25400">
            <a:solidFill>
              <a:srgbClr val="00336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44280" bIns="-44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78" name="Table 3"/>
          <p:cNvGraphicFramePr/>
          <p:nvPr/>
        </p:nvGraphicFramePr>
        <p:xfrm>
          <a:off x="731520" y="1828800"/>
          <a:ext cx="7680600" cy="289584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280160"/>
                <a:gridCol w="1280160"/>
                <a:gridCol w="1280160"/>
                <a:gridCol w="1280160"/>
              </a:tblGrid>
              <a:tr h="45720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6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Model</a:t>
                      </a:r>
                      <a:endParaRPr b="0" lang="en-US" sz="16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6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Test Acc</a:t>
                      </a:r>
                      <a:endParaRPr b="0" lang="en-US" sz="16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6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LogLoss</a:t>
                      </a:r>
                      <a:endParaRPr b="0" lang="en-US" sz="16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6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FLOPs (G)</a:t>
                      </a:r>
                      <a:endParaRPr b="0" lang="en-US" sz="16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6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Throughput</a:t>
                      </a:r>
                      <a:endParaRPr b="0" lang="en-US" sz="16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6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(img/s)</a:t>
                      </a:r>
                      <a:endParaRPr b="0" lang="en-US" sz="16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6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W-F1</a:t>
                      </a:r>
                      <a:endParaRPr b="0" lang="en-US" sz="16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03366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6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MiniVGG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600" strike="noStrike" u="none">
                          <a:solidFill>
                            <a:srgbClr val="00b050"/>
                          </a:solidFill>
                          <a:effectLst/>
                          <a:uFillTx/>
                          <a:latin typeface="Calibri"/>
                        </a:rPr>
                        <a:t>98.08%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600" strike="noStrike" u="none">
                          <a:solidFill>
                            <a:srgbClr val="00b050"/>
                          </a:solidFill>
                          <a:effectLst/>
                          <a:uFillTx/>
                          <a:latin typeface="Calibri"/>
                        </a:rPr>
                        <a:t>0.088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6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0.060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6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29,718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6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0.9805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6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LeNet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6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96.27%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6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0.200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600" strike="noStrike" u="none">
                          <a:solidFill>
                            <a:srgbClr val="00b050"/>
                          </a:solidFill>
                          <a:effectLst/>
                          <a:uFillTx/>
                          <a:latin typeface="Calibri"/>
                        </a:rPr>
                        <a:t>0.007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600" strike="noStrike" u="none">
                          <a:solidFill>
                            <a:srgbClr val="00b050"/>
                          </a:solidFill>
                          <a:effectLst/>
                          <a:uFillTx/>
                          <a:latin typeface="Calibri"/>
                        </a:rPr>
                        <a:t>120,504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6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0.9619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6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MobileNetV4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6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94.44%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6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0.234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6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0.011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6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18,864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6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0.9442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6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MobileNetV2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6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91.35%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6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0.387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6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0.002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6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52,964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6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0.9134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</a:tbl>
          </a:graphicData>
        </a:graphic>
      </p:graphicFrame>
      <p:sp>
        <p:nvSpPr>
          <p:cNvPr id="79" name="TextBox 4"/>
          <p:cNvSpPr/>
          <p:nvPr/>
        </p:nvSpPr>
        <p:spPr>
          <a:xfrm>
            <a:off x="731520" y="4389120"/>
            <a:ext cx="6817320" cy="182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000" strike="noStrike" u="none">
                <a:solidFill>
                  <a:srgbClr val="003366"/>
                </a:solidFill>
                <a:effectLst/>
                <a:uFillTx/>
                <a:latin typeface="Calibri"/>
              </a:rPr>
              <a:t>Key Insights: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MiniVGG: Highest accuracy but 8.6× more FLOPs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LeNet-5: 4× faster than MiniVGG with acceptable accuracy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Clear accuracy-speed trade-off demonstrated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extBox 1"/>
          <p:cNvSpPr/>
          <p:nvPr/>
        </p:nvSpPr>
        <p:spPr>
          <a:xfrm>
            <a:off x="457200" y="457200"/>
            <a:ext cx="8229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trike="noStrike" u="none">
                <a:solidFill>
                  <a:srgbClr val="003366"/>
                </a:solidFill>
                <a:effectLst/>
                <a:uFillTx/>
                <a:latin typeface="Calibri"/>
              </a:rPr>
              <a:t>Ablation Study Results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Rectangle 2"/>
          <p:cNvSpPr/>
          <p:nvPr/>
        </p:nvSpPr>
        <p:spPr>
          <a:xfrm>
            <a:off x="457200" y="1280160"/>
            <a:ext cx="8229240" cy="360"/>
          </a:xfrm>
          <a:prstGeom prst="rect">
            <a:avLst/>
          </a:prstGeom>
          <a:gradFill rotWithShape="0">
            <a:gsLst>
              <a:gs pos="0">
                <a:srgbClr val="3e7fcc"/>
              </a:gs>
              <a:gs pos="100000">
                <a:srgbClr val="a4c1ff"/>
              </a:gs>
            </a:gsLst>
            <a:lin ang="16200000"/>
          </a:gradFill>
          <a:ln w="25400">
            <a:solidFill>
              <a:srgbClr val="00336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44280" bIns="-44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2" name="TextBox 3"/>
          <p:cNvSpPr/>
          <p:nvPr/>
        </p:nvSpPr>
        <p:spPr>
          <a:xfrm>
            <a:off x="457200" y="146304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003366"/>
                </a:solidFill>
                <a:effectLst/>
                <a:uFillTx/>
                <a:latin typeface="Calibri"/>
              </a:rPr>
              <a:t>Data Augmentation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83" name="Table 4"/>
          <p:cNvGraphicFramePr/>
          <p:nvPr/>
        </p:nvGraphicFramePr>
        <p:xfrm>
          <a:off x="457200" y="1828800"/>
          <a:ext cx="2559960" cy="201168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</a:tblGrid>
              <a:tr h="50292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Aug Type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LeNet Acc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03366"/>
                    </a:solidFill>
                  </a:tcPr>
                </a:tc>
              </a:tr>
              <a:tr h="50292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None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99.64%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50292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Basic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99.82%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50292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Advanced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99.77%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</a:tbl>
          </a:graphicData>
        </a:graphic>
      </p:graphicFrame>
      <p:sp>
        <p:nvSpPr>
          <p:cNvPr id="84" name="TextBox 5"/>
          <p:cNvSpPr/>
          <p:nvPr/>
        </p:nvSpPr>
        <p:spPr>
          <a:xfrm>
            <a:off x="430200" y="3886200"/>
            <a:ext cx="26172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i="1" lang="en-US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No statistically significant difference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6"/>
          <p:cNvSpPr/>
          <p:nvPr/>
        </p:nvSpPr>
        <p:spPr>
          <a:xfrm>
            <a:off x="3291840" y="146304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003366"/>
                </a:solidFill>
                <a:effectLst/>
                <a:uFillTx/>
                <a:latin typeface="Calibri"/>
              </a:rPr>
              <a:t>Kernel Sizes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86" name="Table 7"/>
          <p:cNvGraphicFramePr/>
          <p:nvPr/>
        </p:nvGraphicFramePr>
        <p:xfrm>
          <a:off x="3291840" y="1828800"/>
          <a:ext cx="2559960" cy="201168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</a:tblGrid>
              <a:tr h="50292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Config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Acc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03366"/>
                    </a:solidFill>
                  </a:tcPr>
                </a:tc>
              </a:tr>
              <a:tr h="50292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00b050"/>
                          </a:solidFill>
                          <a:effectLst/>
                          <a:uFillTx/>
                          <a:latin typeface="Calibri"/>
                        </a:rPr>
                        <a:t>5×5 (Base)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00b050"/>
                          </a:solidFill>
                          <a:effectLst/>
                          <a:uFillTx/>
                          <a:latin typeface="Calibri"/>
                        </a:rPr>
                        <a:t>96.27%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50292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All 7×7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39.90%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50292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All 3×3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29.93%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</a:tbl>
          </a:graphicData>
        </a:graphic>
      </p:graphicFrame>
      <p:sp>
        <p:nvSpPr>
          <p:cNvPr id="87" name="TextBox 8"/>
          <p:cNvSpPr/>
          <p:nvPr/>
        </p:nvSpPr>
        <p:spPr>
          <a:xfrm>
            <a:off x="3610800" y="3886200"/>
            <a:ext cx="19242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i="1" lang="en-US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Original design is optimal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9"/>
          <p:cNvSpPr/>
          <p:nvPr/>
        </p:nvSpPr>
        <p:spPr>
          <a:xfrm>
            <a:off x="6126480" y="146304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003366"/>
                </a:solidFill>
                <a:effectLst/>
                <a:uFillTx/>
                <a:latin typeface="Calibri"/>
              </a:rPr>
              <a:t>Activation Functions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89" name="Table 10"/>
          <p:cNvGraphicFramePr/>
          <p:nvPr/>
        </p:nvGraphicFramePr>
        <p:xfrm>
          <a:off x="6126480" y="1828800"/>
          <a:ext cx="2559960" cy="201168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</a:tblGrid>
              <a:tr h="50292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Function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Acc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03366"/>
                    </a:solidFill>
                  </a:tcPr>
                </a:tc>
              </a:tr>
              <a:tr h="50292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00b050"/>
                          </a:solidFill>
                          <a:effectLst/>
                          <a:uFillTx/>
                          <a:latin typeface="Calibri"/>
                        </a:rPr>
                        <a:t>ReLU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00b050"/>
                          </a:solidFill>
                          <a:effectLst/>
                          <a:uFillTx/>
                          <a:latin typeface="Calibri"/>
                        </a:rPr>
                        <a:t>96.27%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50292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LeakyReLU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36.83%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50292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GELU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33.43%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</a:tbl>
          </a:graphicData>
        </a:graphic>
      </p:graphicFrame>
      <p:sp>
        <p:nvSpPr>
          <p:cNvPr id="90" name="TextBox 11"/>
          <p:cNvSpPr/>
          <p:nvPr/>
        </p:nvSpPr>
        <p:spPr>
          <a:xfrm>
            <a:off x="6213960" y="3886200"/>
            <a:ext cx="23900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i="1" lang="en-US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Original design (ReLU) is optimal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12"/>
          <p:cNvSpPr/>
          <p:nvPr/>
        </p:nvSpPr>
        <p:spPr>
          <a:xfrm>
            <a:off x="228600" y="4572000"/>
            <a:ext cx="8857080" cy="12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trike="noStrike" u="none">
                <a:solidFill>
                  <a:srgbClr val="003366"/>
                </a:solidFill>
                <a:effectLst/>
                <a:uFillTx/>
                <a:latin typeface="Calibri"/>
              </a:rPr>
              <a:t>Key Findings: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LeNet-5's original design is optimal for shallow architecture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GTSRB has sufficient natural variation, so augmentation has minimal impact)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Box 1"/>
          <p:cNvSpPr/>
          <p:nvPr/>
        </p:nvSpPr>
        <p:spPr>
          <a:xfrm>
            <a:off x="457200" y="457200"/>
            <a:ext cx="8229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trike="noStrike" u="none">
                <a:solidFill>
                  <a:srgbClr val="003366"/>
                </a:solidFill>
                <a:effectLst/>
                <a:uFillTx/>
                <a:latin typeface="Calibri"/>
              </a:rPr>
              <a:t>Fine-tuning Results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Rectangle 2"/>
          <p:cNvSpPr/>
          <p:nvPr/>
        </p:nvSpPr>
        <p:spPr>
          <a:xfrm>
            <a:off x="457200" y="1280160"/>
            <a:ext cx="8229240" cy="360"/>
          </a:xfrm>
          <a:prstGeom prst="rect">
            <a:avLst/>
          </a:prstGeom>
          <a:gradFill rotWithShape="0">
            <a:gsLst>
              <a:gs pos="0">
                <a:srgbClr val="3e7fcc"/>
              </a:gs>
              <a:gs pos="100000">
                <a:srgbClr val="a4c1ff"/>
              </a:gs>
            </a:gsLst>
            <a:lin ang="16200000"/>
          </a:gradFill>
          <a:ln w="25400">
            <a:solidFill>
              <a:srgbClr val="00336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44280" bIns="-44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4" name="TextBox 3"/>
          <p:cNvSpPr/>
          <p:nvPr/>
        </p:nvSpPr>
        <p:spPr>
          <a:xfrm>
            <a:off x="914400" y="1828800"/>
            <a:ext cx="6009480" cy="371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trike="noStrike" u="none">
                <a:solidFill>
                  <a:srgbClr val="003366"/>
                </a:solidFill>
                <a:effectLst/>
                <a:uFillTx/>
                <a:latin typeface="Calibri"/>
              </a:rPr>
              <a:t>How?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Learning rate adjustments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Label smoothing regularization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Adam optimizer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Various batch sizes (32, 64, 128)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3399ff"/>
                </a:solidFill>
                <a:effectLst/>
                <a:uFillTx/>
                <a:latin typeface="Calibri"/>
              </a:rPr>
              <a:t>LeNet-5's lightweight architecture operates near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3399ff"/>
                </a:solidFill>
                <a:effectLst/>
                <a:uFillTx/>
                <a:latin typeface="Calibri"/>
              </a:rPr>
              <a:t>its performance ceiling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3399ff"/>
                </a:solidFill>
                <a:effectLst/>
                <a:uFillTx/>
                <a:latin typeface="Calibri"/>
              </a:rPr>
              <a:t>Validates robustness of original architecture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Box 1"/>
          <p:cNvSpPr/>
          <p:nvPr/>
        </p:nvSpPr>
        <p:spPr>
          <a:xfrm>
            <a:off x="457200" y="457200"/>
            <a:ext cx="8229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trike="noStrike" u="none">
                <a:solidFill>
                  <a:srgbClr val="003366"/>
                </a:solidFill>
                <a:effectLst/>
                <a:uFillTx/>
                <a:latin typeface="Calibri"/>
              </a:rPr>
              <a:t>Key Insights: Why These Results?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Rectangle 2"/>
          <p:cNvSpPr/>
          <p:nvPr/>
        </p:nvSpPr>
        <p:spPr>
          <a:xfrm>
            <a:off x="457200" y="1280160"/>
            <a:ext cx="8229240" cy="360"/>
          </a:xfrm>
          <a:prstGeom prst="rect">
            <a:avLst/>
          </a:prstGeom>
          <a:gradFill rotWithShape="0">
            <a:gsLst>
              <a:gs pos="0">
                <a:srgbClr val="3e7fcc"/>
              </a:gs>
              <a:gs pos="100000">
                <a:srgbClr val="a4c1ff"/>
              </a:gs>
            </a:gsLst>
            <a:lin ang="16200000"/>
          </a:gradFill>
          <a:ln w="25400">
            <a:solidFill>
              <a:srgbClr val="00336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44280" bIns="-44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7" name="TextBox 3"/>
          <p:cNvSpPr/>
          <p:nvPr/>
        </p:nvSpPr>
        <p:spPr>
          <a:xfrm>
            <a:off x="457200" y="1645920"/>
            <a:ext cx="411444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trike="noStrike" u="none">
                <a:solidFill>
                  <a:srgbClr val="003366"/>
                </a:solidFill>
                <a:effectLst/>
                <a:uFillTx/>
                <a:latin typeface="Calibri"/>
              </a:rPr>
              <a:t>Why MiniVGG is More Accurate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Deeper architecture (more layers)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Sequential 3×3 conv blocks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Robust feature hierarchy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Captures complex patterns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c00000"/>
                </a:solidFill>
                <a:effectLst/>
                <a:uFillTx/>
                <a:latin typeface="Calibri"/>
              </a:rPr>
              <a:t>Cost: 8.6× more computation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Box 4"/>
          <p:cNvSpPr/>
          <p:nvPr/>
        </p:nvSpPr>
        <p:spPr>
          <a:xfrm>
            <a:off x="4572000" y="1645920"/>
            <a:ext cx="411444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trike="noStrike" u="none">
                <a:solidFill>
                  <a:srgbClr val="003366"/>
                </a:solidFill>
                <a:effectLst/>
                <a:uFillTx/>
                <a:latin typeface="Calibri"/>
              </a:rPr>
              <a:t>Why LeNet-5 is Faster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Shallow 2-layer design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Efficient 5×5 kernels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Minimal computational overhead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Adequate representational capacity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00b050"/>
                </a:solidFill>
                <a:effectLst/>
                <a:uFillTx/>
                <a:latin typeface="Calibri"/>
              </a:rPr>
              <a:t>Benefit: 4× higher throughput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Box 5"/>
          <p:cNvSpPr/>
          <p:nvPr/>
        </p:nvSpPr>
        <p:spPr>
          <a:xfrm>
            <a:off x="914400" y="5943600"/>
            <a:ext cx="73148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trike="noStrike" u="none">
                <a:solidFill>
                  <a:srgbClr val="3399ff"/>
                </a:solidFill>
                <a:effectLst/>
                <a:uFillTx/>
                <a:latin typeface="Calibri"/>
              </a:rPr>
              <a:t>Architecture depth directly impacts accuracy-speed trade-off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Box 1"/>
          <p:cNvSpPr/>
          <p:nvPr/>
        </p:nvSpPr>
        <p:spPr>
          <a:xfrm>
            <a:off x="457200" y="457200"/>
            <a:ext cx="8229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trike="noStrike" u="none">
                <a:solidFill>
                  <a:srgbClr val="003366"/>
                </a:solidFill>
                <a:effectLst/>
                <a:uFillTx/>
                <a:latin typeface="Calibri"/>
              </a:rPr>
              <a:t>Practical Implications: When to Use Each Model?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Rectangle 2"/>
          <p:cNvSpPr/>
          <p:nvPr/>
        </p:nvSpPr>
        <p:spPr>
          <a:xfrm>
            <a:off x="457200" y="1280160"/>
            <a:ext cx="8229240" cy="360"/>
          </a:xfrm>
          <a:prstGeom prst="rect">
            <a:avLst/>
          </a:prstGeom>
          <a:gradFill rotWithShape="0">
            <a:gsLst>
              <a:gs pos="0">
                <a:srgbClr val="3e7fcc"/>
              </a:gs>
              <a:gs pos="100000">
                <a:srgbClr val="a4c1ff"/>
              </a:gs>
            </a:gsLst>
            <a:lin ang="16200000"/>
          </a:gradFill>
          <a:ln w="25400">
            <a:solidFill>
              <a:srgbClr val="00336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44280" bIns="-44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" name="TextBox 3"/>
          <p:cNvSpPr/>
          <p:nvPr/>
        </p:nvSpPr>
        <p:spPr>
          <a:xfrm>
            <a:off x="457200" y="1828800"/>
            <a:ext cx="4103280" cy="258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trike="noStrike" u="none">
                <a:solidFill>
                  <a:srgbClr val="003366"/>
                </a:solidFill>
                <a:effectLst/>
                <a:uFillTx/>
                <a:latin typeface="Calibri"/>
              </a:rPr>
              <a:t>LeNet-5 Use Case: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Real-time processing is critical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Hardware resources are limited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96% accuracy is acceptable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b="0" lang="en-US" sz="1800" strike="noStrike" u="none">
                <a:solidFill>
                  <a:srgbClr val="595959"/>
                </a:solidFill>
                <a:effectLst/>
                <a:uFillTx/>
                <a:latin typeface="Calibri"/>
              </a:rPr>
              <a:t>Embedded dashboard cameras,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b="0" lang="en-US" sz="1800" strike="noStrike" u="none">
                <a:solidFill>
                  <a:srgbClr val="595959"/>
                </a:solidFill>
                <a:effectLst/>
                <a:uFillTx/>
                <a:latin typeface="Calibri"/>
              </a:rPr>
              <a:t>edge devices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Box 4"/>
          <p:cNvSpPr/>
          <p:nvPr/>
        </p:nvSpPr>
        <p:spPr>
          <a:xfrm>
            <a:off x="4572000" y="1828800"/>
            <a:ext cx="4346640" cy="258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trike="noStrike" u="none">
                <a:solidFill>
                  <a:srgbClr val="003366"/>
                </a:solidFill>
                <a:effectLst/>
                <a:uFillTx/>
                <a:latin typeface="Calibri"/>
              </a:rPr>
              <a:t>VGG Use Case: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Maximum accuracy is required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Computational resources available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Safety-critical applications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b="0" lang="en-US" sz="1800" strike="noStrike" u="none">
                <a:solidFill>
                  <a:srgbClr val="595959"/>
                </a:solidFill>
                <a:effectLst/>
                <a:uFillTx/>
                <a:latin typeface="Calibri"/>
              </a:rPr>
              <a:t>Autonomous vehicles,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b="0" lang="en-US" sz="1800" strike="noStrike" u="none">
                <a:solidFill>
                  <a:srgbClr val="595959"/>
                </a:solidFill>
                <a:effectLst/>
                <a:uFillTx/>
                <a:latin typeface="Calibri"/>
              </a:rPr>
              <a:t>servers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Box 1"/>
          <p:cNvSpPr/>
          <p:nvPr/>
        </p:nvSpPr>
        <p:spPr>
          <a:xfrm>
            <a:off x="457200" y="457200"/>
            <a:ext cx="8229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trike="noStrike" u="none">
                <a:solidFill>
                  <a:srgbClr val="003366"/>
                </a:solidFill>
                <a:effectLst/>
                <a:uFillTx/>
                <a:latin typeface="Calibri"/>
              </a:rPr>
              <a:t>Limitations &amp; Future Work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Rectangle 2"/>
          <p:cNvSpPr/>
          <p:nvPr/>
        </p:nvSpPr>
        <p:spPr>
          <a:xfrm>
            <a:off x="457200" y="1280160"/>
            <a:ext cx="8229240" cy="360"/>
          </a:xfrm>
          <a:prstGeom prst="rect">
            <a:avLst/>
          </a:prstGeom>
          <a:gradFill rotWithShape="0">
            <a:gsLst>
              <a:gs pos="0">
                <a:srgbClr val="3e7fcc"/>
              </a:gs>
              <a:gs pos="100000">
                <a:srgbClr val="a4c1ff"/>
              </a:gs>
            </a:gsLst>
            <a:lin ang="16200000"/>
          </a:gradFill>
          <a:ln w="25400">
            <a:solidFill>
              <a:srgbClr val="00336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44280" bIns="-44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6" name="TextBox 3"/>
          <p:cNvSpPr/>
          <p:nvPr/>
        </p:nvSpPr>
        <p:spPr>
          <a:xfrm>
            <a:off x="457200" y="1645920"/>
            <a:ext cx="3931200" cy="179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trike="noStrike" u="none">
                <a:solidFill>
                  <a:srgbClr val="c00000"/>
                </a:solidFill>
                <a:effectLst/>
                <a:uFillTx/>
                <a:latin typeface="Calibri"/>
              </a:rPr>
              <a:t>Current Limitations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Daytime images only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Single-label classification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Ideal (daytime) conditions only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Limited labeled data scenarios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Box 4"/>
          <p:cNvSpPr/>
          <p:nvPr/>
        </p:nvSpPr>
        <p:spPr>
          <a:xfrm>
            <a:off x="4572000" y="1645920"/>
            <a:ext cx="411444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trike="noStrike" u="none">
                <a:solidFill>
                  <a:srgbClr val="00b050"/>
                </a:solidFill>
                <a:effectLst/>
                <a:uFillTx/>
                <a:latin typeface="Calibri"/>
              </a:rPr>
              <a:t>Future Directions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Test on adverse conditions (night, weather)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Multi-label classification (SRN)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GAN-based data synthesis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Real-world deployment testing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Cross-dataset validation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Box 1"/>
          <p:cNvSpPr/>
          <p:nvPr/>
        </p:nvSpPr>
        <p:spPr>
          <a:xfrm>
            <a:off x="457200" y="457200"/>
            <a:ext cx="8229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trike="noStrike" u="none">
                <a:solidFill>
                  <a:srgbClr val="003366"/>
                </a:solidFill>
                <a:effectLst/>
                <a:uFillTx/>
                <a:latin typeface="Calibri"/>
              </a:rPr>
              <a:t>Conclusions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Rectangle 2"/>
          <p:cNvSpPr/>
          <p:nvPr/>
        </p:nvSpPr>
        <p:spPr>
          <a:xfrm>
            <a:off x="457200" y="1280160"/>
            <a:ext cx="8229240" cy="360"/>
          </a:xfrm>
          <a:prstGeom prst="rect">
            <a:avLst/>
          </a:prstGeom>
          <a:gradFill rotWithShape="0">
            <a:gsLst>
              <a:gs pos="0">
                <a:srgbClr val="3e7fcc"/>
              </a:gs>
              <a:gs pos="100000">
                <a:srgbClr val="a4c1ff"/>
              </a:gs>
            </a:gsLst>
            <a:lin ang="16200000"/>
          </a:gradFill>
          <a:ln w="25400">
            <a:solidFill>
              <a:srgbClr val="00336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44280" bIns="-44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0" name="TextBox 3"/>
          <p:cNvSpPr/>
          <p:nvPr/>
        </p:nvSpPr>
        <p:spPr>
          <a:xfrm>
            <a:off x="731520" y="1828800"/>
            <a:ext cx="768060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trike="noStrike" u="none">
                <a:solidFill>
                  <a:srgbClr val="003366"/>
                </a:solidFill>
                <a:effectLst/>
                <a:uFillTx/>
                <a:latin typeface="Calibri"/>
              </a:rPr>
              <a:t>Key Findings: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✓ LeNet-5: 96.27% accuracy with 120,504 img/s throughput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✓ Remains viable for embedded systems after 30 years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✓ Original design choices validated through ablation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200" strike="noStrike" u="none">
                <a:solidFill>
                  <a:srgbClr val="3399ff"/>
                </a:solidFill>
                <a:effectLst/>
                <a:uFillTx/>
                <a:latin typeface="Calibri"/>
              </a:rPr>
              <a:t>Main Insight: Fundamental accuracy-speed trade-off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MiniVGG achieves 98% accuracy but LeNet-5 delivers 4× faster inference with 87% lower computational cost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200" strike="noStrike" u="none">
                <a:solidFill>
                  <a:srgbClr val="003366"/>
                </a:solidFill>
                <a:effectLst/>
                <a:uFillTx/>
                <a:latin typeface="Calibri"/>
              </a:rPr>
              <a:t>Recommendation: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b="1" lang="en-US" sz="2000" strike="noStrike" u="none">
                <a:solidFill>
                  <a:srgbClr val="00b050"/>
                </a:solidFill>
                <a:effectLst/>
                <a:uFillTx/>
                <a:latin typeface="Calibri"/>
              </a:rPr>
              <a:t>LeNet-5 is optimal for resource-constrained real-time traffic sign recognition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</TotalTime>
  <Application>LibreOffice/25.8.1.1$Linux_X86_64 LibreOffice_project/580$Build-1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2025-11-14T22:10:05Z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